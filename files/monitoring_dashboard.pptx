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C9A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C9A7"/>
                </a:solidFill>
                <a:latin typeface="Arial"/>
              </a:rPr>
              <a:t>CPU &amp; Memory Trend (6 Time Points)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%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T-5m</c:v>
                </c:pt>
                <c:pt idx="1">
                  <c:v>T-4m</c:v>
                </c:pt>
                <c:pt idx="2">
                  <c:v>T-3m</c:v>
                </c:pt>
                <c:pt idx="3">
                  <c:v>T-2m</c:v>
                </c:pt>
                <c:pt idx="4">
                  <c:v>T-1m</c:v>
                </c:pt>
                <c:pt idx="5">
                  <c:v>Now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62</c:v>
                </c:pt>
                <c:pt idx="2">
                  <c:v>78</c:v>
                </c:pt>
                <c:pt idx="3">
                  <c:v>55</c:v>
                </c:pt>
                <c:pt idx="4">
                  <c:v>85</c:v>
                </c:pt>
                <c:pt idx="5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37-4A41-AAA6-A6361A5E28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 %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T-5m</c:v>
                </c:pt>
                <c:pt idx="1">
                  <c:v>T-4m</c:v>
                </c:pt>
                <c:pt idx="2">
                  <c:v>T-3m</c:v>
                </c:pt>
                <c:pt idx="3">
                  <c:v>T-2m</c:v>
                </c:pt>
                <c:pt idx="4">
                  <c:v>T-1m</c:v>
                </c:pt>
                <c:pt idx="5">
                  <c:v>Now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60</c:v>
                </c:pt>
                <c:pt idx="1">
                  <c:v>63</c:v>
                </c:pt>
                <c:pt idx="2">
                  <c:v>67</c:v>
                </c:pt>
                <c:pt idx="3">
                  <c:v>70</c:v>
                </c:pt>
                <c:pt idx="4">
                  <c:v>72</c:v>
                </c:pt>
                <c:pt idx="5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37-4A41-AAA6-A6361A5E28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C9A7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C9A7"/>
                </a:solidFill>
                <a:latin typeface="Arial"/>
              </a:rPr>
              <a:t>System Status Distribution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1FF-44D6-8D34-E81D17A855BE}"/>
              </c:ext>
            </c:extLst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FF-44D6-8D34-E81D17A855BE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FF-44D6-8D34-E81D17A855B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1FF-44D6-8D34-E81D17A855B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1FF-44D6-8D34-E81D17A855B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1FF-44D6-8D34-E81D17A855B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Healthy</c:v>
                </c:pt>
                <c:pt idx="1">
                  <c:v>Warning</c:v>
                </c:pt>
                <c:pt idx="2">
                  <c:v>Critical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1FF-44D6-8D34-E81D17A85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62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914E-2F27-516A-2312-553C5A07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08BB9-2C44-021F-4A25-FB1850245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547DA-0048-3953-F37F-AF0013023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CA889-4DA0-EDF9-7A38-9F5B8836A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452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F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9C875-C57C-4172-51F2-76694C363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2E3A8E-FCDC-1E82-13E5-69BA3C9069B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C58946-DE43-E2FF-F79D-C4A49EE141BC}"/>
              </a:ext>
            </a:extLst>
          </p:cNvPr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05471B-C931-5181-2E94-181AEF0AC806}"/>
              </a:ext>
            </a:extLst>
          </p:cNvPr>
          <p:cNvSpPr/>
          <p:nvPr/>
        </p:nvSpPr>
        <p:spPr>
          <a:xfrm>
            <a:off x="365760" y="27432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Monitoring Dashboard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104FE5-8D6D-C402-C8A3-D977AF97EE0A}"/>
              </a:ext>
            </a:extLst>
          </p:cNvPr>
          <p:cNvSpPr/>
          <p:nvPr/>
        </p:nvSpPr>
        <p:spPr>
          <a:xfrm>
            <a:off x="365760" y="11887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&amp; Containers Simulation | Real-Time Performance Tracking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1675B84-4AD2-B5DD-0943-176A41A379C6}"/>
              </a:ext>
            </a:extLst>
          </p:cNvPr>
          <p:cNvSpPr/>
          <p:nvPr/>
        </p:nvSpPr>
        <p:spPr>
          <a:xfrm>
            <a:off x="365760" y="1691640"/>
            <a:ext cx="36576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05B7D6-0542-9580-F44E-3A1296C9D8A2}"/>
              </a:ext>
            </a:extLst>
          </p:cNvPr>
          <p:cNvSpPr/>
          <p:nvPr/>
        </p:nvSpPr>
        <p:spPr>
          <a:xfrm>
            <a:off x="36576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</a:t>
            </a:r>
            <a:endParaRPr lang="en-US" sz="2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CAD8AE7-8A30-0836-87A4-74A6BBFC980A}"/>
              </a:ext>
            </a:extLst>
          </p:cNvPr>
          <p:cNvSpPr/>
          <p:nvPr/>
        </p:nvSpPr>
        <p:spPr>
          <a:xfrm>
            <a:off x="320040" y="2240280"/>
            <a:ext cx="8503920" cy="2560320"/>
          </a:xfrm>
          <a:prstGeom prst="rect">
            <a:avLst/>
          </a:prstGeom>
          <a:solidFill>
            <a:srgbClr val="112B4E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AD0263-9789-348E-4BAB-B3C9449A157E}"/>
              </a:ext>
            </a:extLst>
          </p:cNvPr>
          <p:cNvSpPr/>
          <p:nvPr/>
        </p:nvSpPr>
        <p:spPr>
          <a:xfrm>
            <a:off x="50292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31E459B-96BD-A78F-BCF6-8A614C236247}"/>
              </a:ext>
            </a:extLst>
          </p:cNvPr>
          <p:cNvSpPr/>
          <p:nvPr/>
        </p:nvSpPr>
        <p:spPr>
          <a:xfrm>
            <a:off x="402336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C453C2-F99D-7893-B45B-6E59AACF7C89}"/>
              </a:ext>
            </a:extLst>
          </p:cNvPr>
          <p:cNvSpPr/>
          <p:nvPr/>
        </p:nvSpPr>
        <p:spPr>
          <a:xfrm>
            <a:off x="7132320" y="233172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No.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763D82-4C9D-D732-8F59-78BE1860F913}"/>
              </a:ext>
            </a:extLst>
          </p:cNvPr>
          <p:cNvSpPr/>
          <p:nvPr/>
        </p:nvSpPr>
        <p:spPr>
          <a:xfrm>
            <a:off x="365760" y="2679192"/>
            <a:ext cx="8412480" cy="228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B4B53C0-0E68-3DF2-6731-D45239493748}"/>
              </a:ext>
            </a:extLst>
          </p:cNvPr>
          <p:cNvSpPr/>
          <p:nvPr/>
        </p:nvSpPr>
        <p:spPr>
          <a:xfrm>
            <a:off x="365760" y="2724912"/>
            <a:ext cx="84124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68D4A61-4C2E-2577-524E-CB293A0C2B76}"/>
              </a:ext>
            </a:extLst>
          </p:cNvPr>
          <p:cNvSpPr/>
          <p:nvPr/>
        </p:nvSpPr>
        <p:spPr>
          <a:xfrm>
            <a:off x="502920" y="277063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Jatin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D54FE47-B50C-D840-B54E-9B2EC4E19244}"/>
              </a:ext>
            </a:extLst>
          </p:cNvPr>
          <p:cNvSpPr/>
          <p:nvPr/>
        </p:nvSpPr>
        <p:spPr>
          <a:xfrm>
            <a:off x="4023360" y="2770632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2420030032</a:t>
            </a:r>
            <a:endParaRPr lang="en-US" sz="13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1CE939A-AFC0-20BD-ED10-977894AE1BA3}"/>
              </a:ext>
            </a:extLst>
          </p:cNvPr>
          <p:cNvSpPr/>
          <p:nvPr/>
        </p:nvSpPr>
        <p:spPr>
          <a:xfrm>
            <a:off x="7132320" y="277063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DC898E0-0C28-E54F-ECCE-1324C8CFC499}"/>
              </a:ext>
            </a:extLst>
          </p:cNvPr>
          <p:cNvSpPr/>
          <p:nvPr/>
        </p:nvSpPr>
        <p:spPr>
          <a:xfrm>
            <a:off x="502920" y="31729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Yugendra Sai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0B07E92-EDC6-8773-A0B4-2381C90A0EC9}"/>
              </a:ext>
            </a:extLst>
          </p:cNvPr>
          <p:cNvSpPr/>
          <p:nvPr/>
        </p:nvSpPr>
        <p:spPr>
          <a:xfrm>
            <a:off x="4023360" y="317296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2420030464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B405D6F-620F-8059-0F9E-C6C3AE709628}"/>
              </a:ext>
            </a:extLst>
          </p:cNvPr>
          <p:cNvSpPr/>
          <p:nvPr/>
        </p:nvSpPr>
        <p:spPr>
          <a:xfrm>
            <a:off x="7132320" y="317296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E71D9A3-63B7-C9CB-42F1-B7FA96A39FDF}"/>
              </a:ext>
            </a:extLst>
          </p:cNvPr>
          <p:cNvSpPr/>
          <p:nvPr/>
        </p:nvSpPr>
        <p:spPr>
          <a:xfrm>
            <a:off x="365760" y="3529584"/>
            <a:ext cx="84124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7897D8-6D3C-CCB8-3191-17F75DC7F87F}"/>
              </a:ext>
            </a:extLst>
          </p:cNvPr>
          <p:cNvSpPr/>
          <p:nvPr/>
        </p:nvSpPr>
        <p:spPr>
          <a:xfrm>
            <a:off x="502920" y="357530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Avinash Yarukala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D1CD1F6-E6D6-A2F5-9EE7-9078FE3B2ED4}"/>
              </a:ext>
            </a:extLst>
          </p:cNvPr>
          <p:cNvSpPr/>
          <p:nvPr/>
        </p:nvSpPr>
        <p:spPr>
          <a:xfrm>
            <a:off x="4023360" y="35753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2420030568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BD7217B-3D70-8FD8-E2D4-EA1D1B6A407E}"/>
              </a:ext>
            </a:extLst>
          </p:cNvPr>
          <p:cNvSpPr/>
          <p:nvPr/>
        </p:nvSpPr>
        <p:spPr>
          <a:xfrm>
            <a:off x="7132320" y="35753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47F0DDF-8B8F-06BA-D3BC-B24B215CB45D}"/>
              </a:ext>
            </a:extLst>
          </p:cNvPr>
          <p:cNvSpPr/>
          <p:nvPr/>
        </p:nvSpPr>
        <p:spPr>
          <a:xfrm>
            <a:off x="502920" y="39776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Srikar Vadapalli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044E5AD-53D7-9F07-73DC-6E557AAC0940}"/>
              </a:ext>
            </a:extLst>
          </p:cNvPr>
          <p:cNvSpPr/>
          <p:nvPr/>
        </p:nvSpPr>
        <p:spPr>
          <a:xfrm>
            <a:off x="4023360" y="397764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2420090012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49653FE2-E416-FA48-DF41-DF77F0DB5663}"/>
              </a:ext>
            </a:extLst>
          </p:cNvPr>
          <p:cNvSpPr/>
          <p:nvPr/>
        </p:nvSpPr>
        <p:spPr>
          <a:xfrm>
            <a:off x="7132320" y="39776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B1DA529E-DC2E-E113-8057-223747A73945}"/>
              </a:ext>
            </a:extLst>
          </p:cNvPr>
          <p:cNvSpPr/>
          <p:nvPr/>
        </p:nvSpPr>
        <p:spPr>
          <a:xfrm>
            <a:off x="365760" y="4334256"/>
            <a:ext cx="841248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B9E93A3-E5E7-631C-A6C9-5279310BE4DC}"/>
              </a:ext>
            </a:extLst>
          </p:cNvPr>
          <p:cNvSpPr/>
          <p:nvPr/>
        </p:nvSpPr>
        <p:spPr>
          <a:xfrm>
            <a:off x="502920" y="437997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Likhith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E7E3FA44-6FE6-6ED5-0D02-032F3B1E8033}"/>
              </a:ext>
            </a:extLst>
          </p:cNvPr>
          <p:cNvSpPr/>
          <p:nvPr/>
        </p:nvSpPr>
        <p:spPr>
          <a:xfrm>
            <a:off x="4023360" y="437997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242030199</a:t>
            </a:r>
            <a:endParaRPr lang="en-US" sz="13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1F2D192-6936-FF96-22B8-9B13A26CA28F}"/>
              </a:ext>
            </a:extLst>
          </p:cNvPr>
          <p:cNvSpPr/>
          <p:nvPr/>
        </p:nvSpPr>
        <p:spPr>
          <a:xfrm>
            <a:off x="7132320" y="437997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5836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77724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1978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Visibility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270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teams juggle multiple tools to monitor VMs, containers, and services — no single view of system health.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8503920" cy="77724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21122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Priority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414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unified platform, critical alerts are buried among low-severity noise.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8503920" cy="77724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🟡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30266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Operations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3558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react to outages rather than predicting and preventing them with real-time metrics.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8503920" cy="77724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941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Blindness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427024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data is scattered, making capacity planning and root cause analysis difficult.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AI-assisted monitoring dashboard that brings together all systems in one view.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45920"/>
            <a:ext cx="4206240" cy="91440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1645920"/>
            <a:ext cx="914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Multi-System Simulation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VMs and containers with realistic CPU, memory, and disk patterns.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4206240" cy="91440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0040" y="2697480"/>
            <a:ext cx="914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7706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Metrics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0998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 data refreshed continuously for all monitored nodes.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749040"/>
            <a:ext cx="4206240" cy="91440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914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38221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Engine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1513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composite health score (0–100) to each system every cycle.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645920"/>
            <a:ext cx="4206240" cy="91440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914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937760" y="17190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Alerting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0482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Auto-generates P1/P2/P3 priority alerts based on threshold breaches.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206240" cy="91440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914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27706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Visualization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0998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Sparkline and time-series charts reveal usage patterns over time.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49040"/>
            <a:ext cx="4206240" cy="914400"/>
          </a:xfrm>
          <a:prstGeom prst="rect">
            <a:avLst/>
          </a:prstGeom>
          <a:solidFill>
            <a:srgbClr val="112B4E"/>
          </a:solidFill>
          <a:ln w="9525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54880" y="3749040"/>
            <a:ext cx="91440" cy="9144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38221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Command View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15137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surface replaces multiple disconnected monitoring tools.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777240"/>
          </a:xfrm>
          <a:prstGeom prst="rect">
            <a:avLst/>
          </a:prstGeom>
          <a:solidFill>
            <a:srgbClr val="065A82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2161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25272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VM/Container Simulators · Metric Generators · Random-seed load patterns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9202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8503920" cy="777240"/>
          </a:xfrm>
          <a:prstGeom prst="rect">
            <a:avLst/>
          </a:prstGeom>
          <a:solidFill>
            <a:srgbClr val="0A7F6F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91840" y="216712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Engine · Threshold Evaluator · Alert Priority Classifier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8346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8503920" cy="777240"/>
          </a:xfrm>
          <a:prstGeom prst="rect">
            <a:avLst/>
          </a:prstGeom>
          <a:solidFill>
            <a:srgbClr val="1A5276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3044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308152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Time-Series Store · Rolling Window Buffers · Event Queue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0" y="374904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C9A7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886200"/>
            <a:ext cx="8503920" cy="777240"/>
          </a:xfrm>
          <a:prstGeom prst="rect">
            <a:avLst/>
          </a:prstGeom>
          <a:solidFill>
            <a:srgbClr val="00897B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9593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399592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· Recharts Visualizations · Responsive Alert Panel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Health Scoring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1280160"/>
          </a:xfrm>
          <a:prstGeom prst="rect">
            <a:avLst/>
          </a:prstGeom>
          <a:solidFill>
            <a:srgbClr val="112B4E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0116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processor cores consumed across all vCPUs in real 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1143000"/>
            <a:ext cx="2011680" cy="1280160"/>
          </a:xfrm>
          <a:prstGeom prst="rect">
            <a:avLst/>
          </a:prstGeom>
          <a:solidFill>
            <a:srgbClr val="112B4E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20116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450592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utilization including cached buffers and active application memory.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143000"/>
            <a:ext cx="2011680" cy="1280160"/>
          </a:xfrm>
          <a:prstGeom prst="rect">
            <a:avLst/>
          </a:prstGeom>
          <a:solidFill>
            <a:srgbClr val="112B4E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26864" y="1143000"/>
            <a:ext cx="2011680" cy="731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26864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26864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I/O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throughput expressed as percentage of disk bandwidth capacity.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143000"/>
            <a:ext cx="2011680" cy="1280160"/>
          </a:xfrm>
          <a:prstGeom prst="rect">
            <a:avLst/>
          </a:prstGeom>
          <a:solidFill>
            <a:srgbClr val="112B4E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03136" y="1143000"/>
            <a:ext cx="201168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03136" y="12344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03136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3136" y="2514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0–100 score: 100 − (0.4×CPU + 0.35×MEM + 0.25×DISK) excess.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83280"/>
            <a:ext cx="859536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Formula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38221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Health = 100 − ( 0.40 × max(0, CPU−70) + 0.35 × max(0, MEM−75) + 0.25 × max(0, DISK−80) 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≥ 80 → Healthy   |   60–79 → Warning   |   &lt; 60 → Critical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 &amp; Priority Levels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1097280"/>
          </a:xfrm>
          <a:prstGeom prst="rect">
            <a:avLst/>
          </a:prstGeom>
          <a:solidFill>
            <a:srgbClr val="2D0C0C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37160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– Critical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0" y="1207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&lt; 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 CPU &gt; 90% OR Memory &gt; 95% OR Health &lt; 40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5623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     Immediate escalation — page on-call engineer within 2 minutes.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8503920" cy="1097280"/>
          </a:xfrm>
          <a:prstGeom prst="rect">
            <a:avLst/>
          </a:prstGeom>
          <a:solidFill>
            <a:srgbClr val="2D1A0C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137160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94360" y="2441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– High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4144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&lt; 30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78892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 CPU &gt; 80% OR Memory &gt; 85% OR Health 40–59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09067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     Alert team lead — investigate within 15 minutes.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8503920" cy="1097280"/>
          </a:xfrm>
          <a:prstGeom prst="rect">
            <a:avLst/>
          </a:prstGeom>
          <a:solidFill>
            <a:srgbClr val="2D2A0C"/>
          </a:solidFill>
          <a:ln w="1524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20040" y="3611880"/>
            <a:ext cx="137160" cy="109728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3675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– Medium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32320" y="367588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SLA: &lt; 4 hrs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 CPU &gt; 70% OR Memory &gt; 75% OR Health 60–79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325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     Log and monitor — schedule review within 2 hours.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Trends &amp; Visualization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97280"/>
          <a:ext cx="530352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760720" y="1097280"/>
          <a:ext cx="3200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600200"/>
          </a:xfrm>
          <a:prstGeom prst="rect">
            <a:avLst/>
          </a:prstGeom>
          <a:solidFill>
            <a:srgbClr val="112B4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60520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React.js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Recharts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Tailwind 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Lucide Icons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188720"/>
            <a:ext cx="4160520" cy="1600200"/>
          </a:xfrm>
          <a:prstGeom prst="rect">
            <a:avLst/>
          </a:prstGeom>
          <a:solidFill>
            <a:srgbClr val="112B4E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16052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46320" y="121615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JS setInterval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16459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Gaussian Noise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Seeded RNG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State Machine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4160520" cy="1600200"/>
          </a:xfrm>
          <a:prstGeom prst="rect">
            <a:avLst/>
          </a:prstGeom>
          <a:solidFill>
            <a:srgbClr val="112B4E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74320" y="3063240"/>
            <a:ext cx="416052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30906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148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Health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2316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Alert Classifier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Threshold Rules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Scorer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063240"/>
            <a:ext cx="4160520" cy="1600200"/>
          </a:xfrm>
          <a:prstGeom prst="rect">
            <a:avLst/>
          </a:prstGeom>
          <a:solidFill>
            <a:srgbClr val="112B4E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709160" y="3063240"/>
            <a:ext cx="4160520" cy="3657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0" y="309067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React State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520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Rolling Buffer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Event Queue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39776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Ref Stores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UI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Unified Monitoring Dashboard     |  10 Systems Online  |  3 Alerts Active  |  Avg Health: 74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3337560"/>
          </a:xfrm>
          <a:prstGeom prst="rect">
            <a:avLst/>
          </a:prstGeom>
          <a:solidFill>
            <a:srgbClr val="112B4E"/>
          </a:solidFill>
          <a:ln w="12700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Nodes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" y="1965960"/>
            <a:ext cx="2560320" cy="420624"/>
          </a:xfrm>
          <a:prstGeom prst="rect">
            <a:avLst/>
          </a:prstGeom>
          <a:solidFill>
            <a:srgbClr val="143045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2020824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</a:rPr>
              <a:t>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2082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vm-prod-01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496312"/>
            <a:ext cx="2560320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38912" y="2551176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</a:rPr>
              <a:t>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551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vm-prod-02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026664"/>
            <a:ext cx="2560320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3081528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97316"/>
                </a:solidFill>
              </a:rPr>
              <a:t>●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08152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container-03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557016"/>
            <a:ext cx="2560320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" y="3611880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C55E"/>
                </a:solidFill>
              </a:rPr>
              <a:t>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61188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vm-stage-04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4087368"/>
            <a:ext cx="2560320" cy="420624"/>
          </a:xfrm>
          <a:prstGeom prst="rect">
            <a:avLst/>
          </a:prstGeom>
          <a:solidFill>
            <a:srgbClr val="0B1F3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38912" y="4142232"/>
            <a:ext cx="320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AB308"/>
                </a:solidFill>
              </a:rPr>
              <a:t>●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4142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container-05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1508760"/>
            <a:ext cx="5715000" cy="1645920"/>
          </a:xfrm>
          <a:prstGeom prst="rect">
            <a:avLst/>
          </a:prstGeom>
          <a:solidFill>
            <a:srgbClr val="112B4E"/>
          </a:solidFill>
          <a:ln w="12700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91840" y="15727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vm-prod-01  |  Health: 52  ⚠ Critical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1993392"/>
            <a:ext cx="1645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337560" y="2057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37560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1993392"/>
            <a:ext cx="1645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166360" y="2057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166360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95160" y="1993392"/>
            <a:ext cx="1645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995160" y="20574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995160" y="25786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54680" y="3246120"/>
            <a:ext cx="5715000" cy="1600200"/>
          </a:xfrm>
          <a:prstGeom prst="rect">
            <a:avLst/>
          </a:prstGeom>
          <a:solidFill>
            <a:srgbClr val="112B4E"/>
          </a:solidFill>
          <a:ln w="12700">
            <a:solidFill>
              <a:srgbClr val="00957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91840" y="329184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46120" y="3685032"/>
            <a:ext cx="5486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37560" y="37216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3721608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vm-prod-01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57800" y="3721608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91% — Exceeds critical threshold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3721608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ago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46120" y="4032504"/>
            <a:ext cx="5486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37560" y="406908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0" y="4069080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container-03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57800" y="4069080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87% — High utilization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069080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 ago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46120" y="4379976"/>
            <a:ext cx="5486400" cy="320040"/>
          </a:xfrm>
          <a:prstGeom prst="rect">
            <a:avLst/>
          </a:prstGeom>
          <a:solidFill>
            <a:srgbClr val="0D1B2A"/>
          </a:solidFill>
          <a:ln w="635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337560" y="441655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0" y="4416552"/>
            <a:ext cx="1371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vm-stage-04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57800" y="4416552"/>
            <a:ext cx="3017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76% — Approaching warning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0" y="4416552"/>
            <a:ext cx="594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 ago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F1E"/>
          </a:solidFill>
          <a:ln w="12700">
            <a:solidFill>
              <a:srgbClr val="060F1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2B4E"/>
          </a:solidFill>
          <a:ln w="12700">
            <a:solidFill>
              <a:srgbClr val="112B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single pane of glass for all VM and container metrics.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health scoring enables objective, at-a-glance system assessment.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1109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 alerting cuts noise and focuses teams on what matters.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86584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en-US" sz="13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visualizations support trend analysis and capacity planning.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8412480" cy="36576"/>
          </a:xfrm>
          <a:prstGeom prst="rect">
            <a:avLst/>
          </a:prstGeom>
          <a:solidFill>
            <a:srgbClr val="00957C"/>
          </a:solidFill>
          <a:ln w="12700">
            <a:solidFill>
              <a:srgbClr val="00957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9992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34564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Kubernetes &amp; Docker Live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45643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ML-based Anomaly Prediction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Role-based Access Control (RBAC)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84048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Email / SMS / Webhook Alert Dispatch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224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Custom Threshold Configuration UI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4224528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Export Reports as PDF / 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4622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13  |  Unified Monitoring Dashboard  |  Academic Project 2025–26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767</Words>
  <Application>Microsoft Office PowerPoint</Application>
  <PresentationFormat>On-screen Show (16:9)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Unified Monitoring Dashboard</dc:title>
  <dc:subject>PptxGenJS Presentation</dc:subject>
  <dc:creator>PptxGenJS</dc:creator>
  <cp:lastModifiedBy>AVINASH YARUKALA 2420030568</cp:lastModifiedBy>
  <cp:revision>2</cp:revision>
  <dcterms:created xsi:type="dcterms:W3CDTF">2026-04-10T20:23:49Z</dcterms:created>
  <dcterms:modified xsi:type="dcterms:W3CDTF">2026-04-10T21:23:42Z</dcterms:modified>
</cp:coreProperties>
</file>