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IBM Plex Sans" panose="020B0503050203000203" pitchFamily="34" charset="0"/>
      <p:regular r:id="rId10"/>
      <p:bold r:id="rId11"/>
      <p:italic r:id="rId12"/>
      <p:boldItalic r:id="rId13"/>
    </p:embeddedFont>
    <p:embeddedFont>
      <p:font typeface="Merriweather" panose="000005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irVFXO0Y+gBcjyG77OGRY+W3dA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3"/>
    <p:restoredTop sz="94694"/>
  </p:normalViewPr>
  <p:slideViewPr>
    <p:cSldViewPr snapToGrid="0">
      <p:cViewPr varScale="1">
        <p:scale>
          <a:sx n="103" d="100"/>
          <a:sy n="103" d="100"/>
        </p:scale>
        <p:origin x="9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IN" b="1" i="0" u="none" strike="noStrike" dirty="0">
                <a:solidFill>
                  <a:srgbClr val="000000"/>
                </a:solidFill>
                <a:effectLst/>
              </a:rPr>
              <a:t>Problem</a:t>
            </a:r>
          </a:p>
          <a:p>
            <a:r>
              <a:rPr lang="en-IN" b="0" i="0" u="none" strike="noStrike" dirty="0">
                <a:solidFill>
                  <a:srgbClr val="000000"/>
                </a:solidFill>
                <a:effectLst/>
              </a:rPr>
              <a:t>Doing research today feels messy. Students, teachers, and startup teams waste hours moving between Google, blogs, and PDFs just to get a few reliable points.</a:t>
            </a:r>
          </a:p>
          <a:p>
            <a:r>
              <a:rPr lang="en-IN" b="0" i="0" u="none" strike="noStrike" dirty="0">
                <a:solidFill>
                  <a:srgbClr val="000000"/>
                </a:solidFill>
                <a:effectLst/>
              </a:rPr>
              <a:t>Search engines throw endless links without clear answers.</a:t>
            </a:r>
          </a:p>
          <a:p>
            <a:r>
              <a:rPr lang="en-IN" b="0" i="0" u="none" strike="noStrike" dirty="0">
                <a:solidFill>
                  <a:srgbClr val="000000"/>
                </a:solidFill>
                <a:effectLst/>
              </a:rPr>
              <a:t>Most tools only handle one file at a time.</a:t>
            </a:r>
          </a:p>
          <a:p>
            <a:r>
              <a:rPr lang="en-IN" b="0" i="0" u="none" strike="noStrike" dirty="0">
                <a:solidFill>
                  <a:srgbClr val="000000"/>
                </a:solidFill>
                <a:effectLst/>
              </a:rPr>
              <a:t>Many summaries don’t show sources, making it hard to trust them.</a:t>
            </a:r>
          </a:p>
          <a:p>
            <a:r>
              <a:rPr lang="en-IN" b="0" i="0" u="none" strike="noStrike" dirty="0">
                <a:solidFill>
                  <a:srgbClr val="000000"/>
                </a:solidFill>
                <a:effectLst/>
              </a:rPr>
              <a:t>As a result, people lose time, energy, and often end up with half-baked or outdated information.</a:t>
            </a:r>
          </a:p>
          <a:p>
            <a:br>
              <a:rPr lang="en-IN" dirty="0"/>
            </a:br>
            <a:endParaRPr lang="en-IN" dirty="0"/>
          </a:p>
          <a:p>
            <a:r>
              <a:rPr lang="en-IN" b="1" i="0" u="none" strike="noStrike" dirty="0">
                <a:solidFill>
                  <a:srgbClr val="000000"/>
                </a:solidFill>
                <a:effectLst/>
              </a:rPr>
              <a:t>Solution</a:t>
            </a:r>
          </a:p>
          <a:p>
            <a:r>
              <a:rPr lang="en-IN" b="0" i="0" u="none" strike="noStrike" dirty="0">
                <a:solidFill>
                  <a:srgbClr val="000000"/>
                </a:solidFill>
                <a:effectLst/>
              </a:rPr>
              <a:t>We are building a </a:t>
            </a:r>
            <a:r>
              <a:rPr lang="en-IN" b="1" i="0" u="none" strike="noStrike" dirty="0">
                <a:solidFill>
                  <a:srgbClr val="000000"/>
                </a:solidFill>
                <a:effectLst/>
              </a:rPr>
              <a:t>Smart Research Assistant</a:t>
            </a:r>
            <a:r>
              <a:rPr lang="en-IN" b="0" i="0" u="none" strike="noStrike" dirty="0">
                <a:solidFill>
                  <a:srgbClr val="000000"/>
                </a:solidFill>
                <a:effectLst/>
              </a:rPr>
              <a:t> that works more like a </a:t>
            </a:r>
            <a:r>
              <a:rPr lang="en-IN" b="1" i="0" u="none" strike="noStrike" dirty="0">
                <a:solidFill>
                  <a:srgbClr val="000000"/>
                </a:solidFill>
                <a:effectLst/>
              </a:rPr>
              <a:t>research notebook</a:t>
            </a:r>
            <a:r>
              <a:rPr lang="en-IN" b="0" i="0" u="none" strike="noStrike" dirty="0">
                <a:solidFill>
                  <a:srgbClr val="000000"/>
                </a:solidFill>
                <a:effectLst/>
              </a:rPr>
              <a:t> than just a chatbot.</a:t>
            </a:r>
          </a:p>
          <a:p>
            <a:r>
              <a:rPr lang="en-IN" b="0" i="0" u="none" strike="noStrike" dirty="0">
                <a:solidFill>
                  <a:srgbClr val="000000"/>
                </a:solidFill>
                <a:effectLst/>
              </a:rPr>
              <a:t>Collects answers from both uploaded files and the web.</a:t>
            </a:r>
          </a:p>
          <a:p>
            <a:r>
              <a:rPr lang="en-IN" b="0" i="0" u="none" strike="noStrike" dirty="0">
                <a:solidFill>
                  <a:srgbClr val="000000"/>
                </a:solidFill>
                <a:effectLst/>
              </a:rPr>
              <a:t>Shows agreements and differences across sources.</a:t>
            </a:r>
          </a:p>
          <a:p>
            <a:r>
              <a:rPr lang="en-IN" b="0" i="0" u="none" strike="noStrike" dirty="0">
                <a:solidFill>
                  <a:srgbClr val="000000"/>
                </a:solidFill>
                <a:effectLst/>
              </a:rPr>
              <a:t>Keeps track of questions and answers in one place.</a:t>
            </a:r>
          </a:p>
          <a:p>
            <a:r>
              <a:rPr lang="en-IN" b="0" i="0" u="none" strike="noStrike" dirty="0">
                <a:solidFill>
                  <a:srgbClr val="000000"/>
                </a:solidFill>
                <a:effectLst/>
              </a:rPr>
              <a:t>Refreshes automatically when new articles or updates come in.</a:t>
            </a:r>
          </a:p>
          <a:p>
            <a:r>
              <a:rPr lang="en-IN" b="0" i="0" u="none" strike="noStrike" dirty="0">
                <a:solidFill>
                  <a:srgbClr val="000000"/>
                </a:solidFill>
                <a:effectLst/>
              </a:rPr>
              <a:t>Lets teams share the same space and work together.</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7272eebcc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7272eebcc5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6ba1536f02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6ba1536f0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p:nvPr/>
        </p:nvSpPr>
        <p:spPr>
          <a:xfrm>
            <a:off x="1771700" y="400813"/>
            <a:ext cx="57951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500"/>
              <a:buFont typeface="Arial"/>
              <a:buNone/>
            </a:pPr>
            <a:r>
              <a:rPr lang="en-GB" sz="2500" b="1" i="0" u="none" strike="noStrike" cap="none">
                <a:solidFill>
                  <a:srgbClr val="000000"/>
                </a:solidFill>
                <a:latin typeface="Arial"/>
                <a:ea typeface="Arial"/>
                <a:cs typeface="Arial"/>
                <a:sym typeface="Arial"/>
              </a:rPr>
              <a:t>Problem Statement and Team Details</a:t>
            </a:r>
            <a:endParaRPr sz="700" b="0" i="0" u="none" strike="noStrike" cap="none">
              <a:solidFill>
                <a:srgbClr val="000000"/>
              </a:solidFill>
              <a:latin typeface="Arial"/>
              <a:ea typeface="Arial"/>
              <a:cs typeface="Arial"/>
              <a:sym typeface="Arial"/>
            </a:endParaRPr>
          </a:p>
        </p:txBody>
      </p:sp>
      <p:sp>
        <p:nvSpPr>
          <p:cNvPr id="55" name="Google Shape;55;p1"/>
          <p:cNvSpPr txBox="1"/>
          <p:nvPr/>
        </p:nvSpPr>
        <p:spPr>
          <a:xfrm>
            <a:off x="365100" y="426161"/>
            <a:ext cx="8771040" cy="5696368"/>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 </a:t>
            </a:r>
            <a:endParaRPr sz="148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Problem Statement: Research today is not just about finding answers — it’s about finding answers that can be trusted and shared. Students, teachers, and startup teams spend hours jumping between Google, PDFs, and blogs, only to end up with scattered, sometimes outdated knowledge.</a:t>
            </a:r>
            <a:br>
              <a:rPr lang="en-GB" sz="1480" b="1" i="0" u="none" strike="noStrike" cap="none">
                <a:solidFill>
                  <a:srgbClr val="000000"/>
                </a:solidFill>
                <a:latin typeface="Arial"/>
                <a:ea typeface="Arial"/>
                <a:cs typeface="Arial"/>
                <a:sym typeface="Arial"/>
              </a:rPr>
            </a:br>
            <a:endParaRPr lang="en-GB" sz="1480" dirty="0"/>
          </a:p>
          <a:p>
            <a:pPr marL="0" marR="0" lvl="0" indent="0" algn="l" rtl="0">
              <a:lnSpc>
                <a:spcPct val="140000"/>
              </a:lnSpc>
              <a:spcBef>
                <a:spcPts val="0"/>
              </a:spcBef>
              <a:spcAft>
                <a:spcPts val="0"/>
              </a:spcAft>
              <a:buClr>
                <a:srgbClr val="000000"/>
              </a:buClr>
              <a:buSzPts val="1500"/>
              <a:buFont typeface="Arial"/>
              <a:buNone/>
            </a:pPr>
            <a:r>
              <a:rPr lang="en-IN" sz="1480" b="1" i="0" u="none" strike="noStrike" cap="none">
                <a:solidFill>
                  <a:srgbClr val="000000"/>
                </a:solidFill>
                <a:latin typeface="Arial"/>
                <a:ea typeface="Arial"/>
                <a:cs typeface="Arial"/>
                <a:sym typeface="Arial"/>
              </a:rPr>
              <a:t>Github</a:t>
            </a:r>
            <a:r>
              <a:rPr lang="en-IN" sz="1480" b="1" dirty="0"/>
              <a:t> </a:t>
            </a:r>
            <a:r>
              <a:rPr lang="en-IN" sz="1480" b="1" dirty="0" err="1"/>
              <a:t>link:https</a:t>
            </a:r>
            <a:r>
              <a:rPr lang="en-IN" sz="1480" b="1" dirty="0"/>
              <a:t>://github.com/Avinashy324/</a:t>
            </a:r>
            <a:r>
              <a:rPr lang="en-IN" sz="1480" b="1" dirty="0" err="1"/>
              <a:t>Smart_Research_Assistant</a:t>
            </a: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Team Name: C</a:t>
            </a:r>
            <a:r>
              <a:rPr lang="en-GB" sz="1480" b="1" dirty="0"/>
              <a:t>ommit and conquer</a:t>
            </a:r>
            <a:r>
              <a:rPr lang="en-GB" sz="1480" b="1" i="0" u="none" strike="noStrike" cap="none" dirty="0">
                <a:solidFill>
                  <a:srgbClr val="000000"/>
                </a:solidFill>
                <a:latin typeface="Arial"/>
                <a:ea typeface="Arial"/>
                <a:cs typeface="Arial"/>
                <a:sym typeface="Arial"/>
              </a:rPr>
              <a:t> </a:t>
            </a:r>
            <a:endParaRPr sz="148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T</a:t>
            </a:r>
            <a:r>
              <a:rPr lang="en-GB" sz="1480" b="1" dirty="0"/>
              <a:t>e</a:t>
            </a:r>
            <a:r>
              <a:rPr lang="en-GB" sz="1480" b="1" i="0" u="none" strike="noStrike" cap="none" dirty="0">
                <a:solidFill>
                  <a:srgbClr val="000000"/>
                </a:solidFill>
                <a:latin typeface="Arial"/>
                <a:ea typeface="Arial"/>
                <a:cs typeface="Arial"/>
                <a:sym typeface="Arial"/>
              </a:rPr>
              <a:t>am Leader </a:t>
            </a:r>
            <a:r>
              <a:rPr lang="en-GB" sz="1480" b="1" i="0" u="none" strike="noStrike" cap="none" dirty="0" err="1">
                <a:solidFill>
                  <a:srgbClr val="000000"/>
                </a:solidFill>
                <a:latin typeface="Arial"/>
                <a:ea typeface="Arial"/>
                <a:cs typeface="Arial"/>
                <a:sym typeface="Arial"/>
              </a:rPr>
              <a:t>Name:Avinash</a:t>
            </a:r>
            <a:r>
              <a:rPr lang="en-GB" sz="1480" b="1" i="0" u="none" strike="noStrike" cap="none" dirty="0">
                <a:solidFill>
                  <a:srgbClr val="000000"/>
                </a:solidFill>
                <a:latin typeface="Arial"/>
                <a:ea typeface="Arial"/>
                <a:cs typeface="Arial"/>
                <a:sym typeface="Arial"/>
              </a:rPr>
              <a:t> Y</a:t>
            </a:r>
            <a:endParaRPr sz="1480" b="0" i="0" u="none" strike="noStrike" cap="none" dirty="0">
              <a:solidFill>
                <a:srgbClr val="000000"/>
              </a:solidFill>
              <a:latin typeface="Arial"/>
              <a:ea typeface="Arial"/>
              <a:cs typeface="Arial"/>
              <a:sym typeface="Arial"/>
            </a:endParaRPr>
          </a:p>
          <a:p>
            <a:pPr marL="0" marR="0" lvl="0" indent="0" algn="just" rtl="0">
              <a:lnSpc>
                <a:spcPct val="121333"/>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Institute Name: KLH University, Hyderabad</a:t>
            </a:r>
            <a:endParaRPr lang="en-GB" sz="1480" dirty="0"/>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r>
              <a:rPr lang="en-GB" sz="1480" b="1" i="0" u="none" strike="noStrike" cap="none" dirty="0">
                <a:solidFill>
                  <a:srgbClr val="000000"/>
                </a:solidFill>
                <a:latin typeface="Arial"/>
                <a:ea typeface="Arial"/>
                <a:cs typeface="Arial"/>
                <a:sym typeface="Arial"/>
              </a:rPr>
              <a:t>Team Leader Email ID: </a:t>
            </a:r>
            <a:r>
              <a:rPr lang="en-GB" sz="1480" b="1" dirty="0"/>
              <a:t>2420030568@klh.edu.in</a:t>
            </a:r>
            <a:endParaRPr sz="148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500"/>
              <a:buFont typeface="Arial"/>
              <a:buNone/>
            </a:pPr>
            <a:endParaRPr sz="1480" b="1" i="0" u="none" strike="noStrike" cap="none" dirty="0">
              <a:solidFill>
                <a:srgbClr val="000000"/>
              </a:solidFill>
              <a:latin typeface="Arial"/>
              <a:ea typeface="Arial"/>
              <a:cs typeface="Arial"/>
              <a:sym typeface="Arial"/>
            </a:endParaRPr>
          </a:p>
        </p:txBody>
      </p:sp>
      <p:sp>
        <p:nvSpPr>
          <p:cNvPr id="56" name="Google Shape;56;p1"/>
          <p:cNvSpPr txBox="1"/>
          <p:nvPr/>
        </p:nvSpPr>
        <p:spPr>
          <a:xfrm>
            <a:off x="2335200" y="1206950"/>
            <a:ext cx="6808800" cy="2925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Arial"/>
              <a:ea typeface="Arial"/>
              <a:cs typeface="Arial"/>
              <a:sym typeface="Arial"/>
            </a:endParaRPr>
          </a:p>
        </p:txBody>
      </p:sp>
      <p:sp>
        <p:nvSpPr>
          <p:cNvPr id="57" name="Google Shape;57;p1"/>
          <p:cNvSpPr txBox="1"/>
          <p:nvPr/>
        </p:nvSpPr>
        <p:spPr>
          <a:xfrm>
            <a:off x="1979700" y="3274345"/>
            <a:ext cx="7348200" cy="3078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a:ea typeface="IBM Plex Sans"/>
              <a:cs typeface="IBM Plex Sans"/>
              <a:sym typeface="IBM Plex Sans"/>
            </a:endParaRPr>
          </a:p>
        </p:txBody>
      </p:sp>
      <p:sp>
        <p:nvSpPr>
          <p:cNvPr id="58" name="Google Shape;58;p1"/>
          <p:cNvSpPr txBox="1"/>
          <p:nvPr/>
        </p:nvSpPr>
        <p:spPr>
          <a:xfrm>
            <a:off x="1979700" y="3944776"/>
            <a:ext cx="7348200" cy="3078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a:ea typeface="IBM Plex Sans"/>
              <a:cs typeface="IBM Plex Sans"/>
              <a:sym typeface="IBM Plex Sans"/>
            </a:endParaRPr>
          </a:p>
        </p:txBody>
      </p:sp>
      <p:pic>
        <p:nvPicPr>
          <p:cNvPr id="59" name="Google Shape;59;p1"/>
          <p:cNvPicPr preferRelativeResize="0"/>
          <p:nvPr/>
        </p:nvPicPr>
        <p:blipFill rotWithShape="1">
          <a:blip r:embed="rId3">
            <a:alphaModFix/>
          </a:blip>
          <a:srcRect/>
          <a:stretch/>
        </p:blipFill>
        <p:spPr>
          <a:xfrm>
            <a:off x="392050" y="80200"/>
            <a:ext cx="1026150" cy="1026150"/>
          </a:xfrm>
          <a:prstGeom prst="rect">
            <a:avLst/>
          </a:prstGeom>
          <a:noFill/>
          <a:ln>
            <a:noFill/>
          </a:ln>
        </p:spPr>
      </p:pic>
      <p:sp>
        <p:nvSpPr>
          <p:cNvPr id="60" name="Google Shape;60;p1"/>
          <p:cNvSpPr txBox="1"/>
          <p:nvPr/>
        </p:nvSpPr>
        <p:spPr>
          <a:xfrm>
            <a:off x="2280950" y="2077038"/>
            <a:ext cx="625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 name="Google Shape;61;p1"/>
          <p:cNvSpPr txBox="1"/>
          <p:nvPr/>
        </p:nvSpPr>
        <p:spPr>
          <a:xfrm>
            <a:off x="2574000" y="4510325"/>
            <a:ext cx="62049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2"/>
          <p:cNvPicPr preferRelativeResize="0"/>
          <p:nvPr/>
        </p:nvPicPr>
        <p:blipFill rotWithShape="1">
          <a:blip r:embed="rId3">
            <a:alphaModFix/>
          </a:blip>
          <a:srcRect/>
          <a:stretch/>
        </p:blipFill>
        <p:spPr>
          <a:xfrm>
            <a:off x="108800" y="0"/>
            <a:ext cx="1026150" cy="1026150"/>
          </a:xfrm>
          <a:prstGeom prst="rect">
            <a:avLst/>
          </a:prstGeom>
          <a:noFill/>
          <a:ln>
            <a:noFill/>
          </a:ln>
        </p:spPr>
      </p:pic>
      <p:sp>
        <p:nvSpPr>
          <p:cNvPr id="67" name="Google Shape;67;p2"/>
          <p:cNvSpPr txBox="1"/>
          <p:nvPr/>
        </p:nvSpPr>
        <p:spPr>
          <a:xfrm>
            <a:off x="1293475" y="4464200"/>
            <a:ext cx="6250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68" name="Google Shape;68;p2"/>
          <p:cNvSpPr txBox="1"/>
          <p:nvPr/>
        </p:nvSpPr>
        <p:spPr>
          <a:xfrm>
            <a:off x="152825" y="1295550"/>
            <a:ext cx="3109800" cy="191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2"/>
              </a:solidFill>
              <a:latin typeface="Merriweather"/>
              <a:ea typeface="Merriweather"/>
              <a:cs typeface="Merriweather"/>
              <a:sym typeface="Merriweather"/>
            </a:endParaRPr>
          </a:p>
        </p:txBody>
      </p:sp>
      <p:sp>
        <p:nvSpPr>
          <p:cNvPr id="69" name="Google Shape;69;p2"/>
          <p:cNvSpPr/>
          <p:nvPr/>
        </p:nvSpPr>
        <p:spPr>
          <a:xfrm>
            <a:off x="5586825" y="4695875"/>
            <a:ext cx="710100" cy="258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2"/>
          <p:cNvSpPr/>
          <p:nvPr/>
        </p:nvSpPr>
        <p:spPr>
          <a:xfrm>
            <a:off x="8556725" y="4728150"/>
            <a:ext cx="587400" cy="254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2"/>
          <p:cNvSpPr txBox="1"/>
          <p:nvPr/>
        </p:nvSpPr>
        <p:spPr>
          <a:xfrm>
            <a:off x="2062197" y="235206"/>
            <a:ext cx="50196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500" b="1"/>
              <a:t>Problem and Solution</a:t>
            </a:r>
            <a:endParaRPr sz="700"/>
          </a:p>
        </p:txBody>
      </p:sp>
      <p:grpSp>
        <p:nvGrpSpPr>
          <p:cNvPr id="72" name="Google Shape;72;p2"/>
          <p:cNvGrpSpPr/>
          <p:nvPr/>
        </p:nvGrpSpPr>
        <p:grpSpPr>
          <a:xfrm>
            <a:off x="465613" y="1070299"/>
            <a:ext cx="8212361" cy="3995320"/>
            <a:chOff x="-6976" y="-38100"/>
            <a:chExt cx="2090776" cy="1503300"/>
          </a:xfrm>
        </p:grpSpPr>
        <p:sp>
          <p:nvSpPr>
            <p:cNvPr id="73" name="Google Shape;73;p2"/>
            <p:cNvSpPr/>
            <p:nvPr/>
          </p:nvSpPr>
          <p:spPr>
            <a:xfrm>
              <a:off x="-6976" y="-19041"/>
              <a:ext cx="2083903" cy="1465108"/>
            </a:xfrm>
            <a:custGeom>
              <a:avLst/>
              <a:gdLst/>
              <a:ahLst/>
              <a:cxnLst/>
              <a:rect l="l" t="t" r="r" b="b"/>
              <a:pathLst>
                <a:path w="2083903" h="1465108" extrusionOk="0">
                  <a:moveTo>
                    <a:pt x="0" y="0"/>
                  </a:moveTo>
                  <a:lnTo>
                    <a:pt x="2083903" y="0"/>
                  </a:lnTo>
                  <a:lnTo>
                    <a:pt x="2083903" y="1465108"/>
                  </a:lnTo>
                  <a:lnTo>
                    <a:pt x="0" y="1465108"/>
                  </a:lnTo>
                  <a:close/>
                </a:path>
              </a:pathLst>
            </a:custGeom>
            <a:solidFill>
              <a:srgbClr val="FFFFFF"/>
            </a:solidFill>
            <a:ln w="38100" cap="sq" cmpd="sng">
              <a:solidFill>
                <a:srgbClr val="000000"/>
              </a:solidFill>
              <a:prstDash val="solid"/>
              <a:miter lim="8000"/>
              <a:headEnd type="none" w="sm" len="sm"/>
              <a:tailEnd type="none" w="sm" len="sm"/>
            </a:ln>
          </p:spPr>
          <p:txBody>
            <a:bodyPr/>
            <a:lstStyle/>
            <a:p>
              <a:endParaRPr lang="en-US"/>
            </a:p>
          </p:txBody>
        </p:sp>
        <p:sp>
          <p:nvSpPr>
            <p:cNvPr id="74" name="Google Shape;74;p2"/>
            <p:cNvSpPr txBox="1"/>
            <p:nvPr/>
          </p:nvSpPr>
          <p:spPr>
            <a:xfrm>
              <a:off x="0" y="-38100"/>
              <a:ext cx="2083800" cy="1503300"/>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sp>
        <p:nvSpPr>
          <p:cNvPr id="75" name="Google Shape;75;p2"/>
          <p:cNvSpPr txBox="1"/>
          <p:nvPr/>
        </p:nvSpPr>
        <p:spPr>
          <a:xfrm>
            <a:off x="616598" y="1212392"/>
            <a:ext cx="7883393" cy="4162358"/>
          </a:xfrm>
          <a:prstGeom prst="rect">
            <a:avLst/>
          </a:prstGeom>
          <a:noFill/>
          <a:ln>
            <a:noFill/>
          </a:ln>
        </p:spPr>
        <p:txBody>
          <a:bodyPr spcFirstLastPara="1" wrap="square" lIns="0" tIns="0" rIns="0" bIns="0" anchor="t" anchorCtr="0">
            <a:spAutoFit/>
          </a:bodyPr>
          <a:lstStyle/>
          <a:p>
            <a:r>
              <a:rPr lang="en-IN" sz="1470" b="1" dirty="0"/>
              <a:t>Problem</a:t>
            </a:r>
          </a:p>
          <a:p>
            <a:r>
              <a:rPr lang="en-IN" sz="1470" dirty="0"/>
              <a:t>Doing research today feels messy. Students, teachers, and startup teams waste hours moving between Google, blogs, and PDFs just to get a few reliable points.</a:t>
            </a:r>
          </a:p>
          <a:p>
            <a:r>
              <a:rPr lang="en-IN" sz="1470" dirty="0"/>
              <a:t>Search engines throw endless links without clear answers.</a:t>
            </a:r>
          </a:p>
          <a:p>
            <a:r>
              <a:rPr lang="en-IN" sz="1470" dirty="0"/>
              <a:t>Most tools only handle one file at a time.</a:t>
            </a:r>
          </a:p>
          <a:p>
            <a:r>
              <a:rPr lang="en-IN" sz="1470" dirty="0"/>
              <a:t>Many summaries don’t show sources, making it hard to trust them.</a:t>
            </a:r>
          </a:p>
          <a:p>
            <a:r>
              <a:rPr lang="en-IN" sz="1470" dirty="0"/>
              <a:t>As a result, people lose time, energy, and often end up with half-baked or outdated information.</a:t>
            </a:r>
          </a:p>
          <a:p>
            <a:endParaRPr lang="en-IN" sz="1470" dirty="0"/>
          </a:p>
          <a:p>
            <a:r>
              <a:rPr lang="en-IN" sz="1470" b="1" dirty="0"/>
              <a:t>Solution</a:t>
            </a:r>
          </a:p>
          <a:p>
            <a:r>
              <a:rPr lang="en-IN" sz="1470" dirty="0"/>
              <a:t>We are building a </a:t>
            </a:r>
            <a:r>
              <a:rPr lang="en-IN" sz="1470" b="1" dirty="0"/>
              <a:t>Smart Research Assistant</a:t>
            </a:r>
            <a:r>
              <a:rPr lang="en-IN" sz="1470" dirty="0"/>
              <a:t> that works more like a </a:t>
            </a:r>
            <a:r>
              <a:rPr lang="en-IN" sz="1470" b="1" dirty="0"/>
              <a:t>research notebook</a:t>
            </a:r>
            <a:r>
              <a:rPr lang="en-IN" sz="1470" dirty="0"/>
              <a:t> than just a chatbot.</a:t>
            </a:r>
          </a:p>
          <a:p>
            <a:r>
              <a:rPr lang="en-IN" sz="1470" dirty="0"/>
              <a:t>Collects answers from both uploaded files and the web.</a:t>
            </a:r>
          </a:p>
          <a:p>
            <a:r>
              <a:rPr lang="en-IN" sz="1470" dirty="0"/>
              <a:t>Shows agreements and differences across sources.</a:t>
            </a:r>
          </a:p>
          <a:p>
            <a:r>
              <a:rPr lang="en-IN" sz="1470" dirty="0"/>
              <a:t>Keeps track of questions and answers in one place.</a:t>
            </a:r>
          </a:p>
          <a:p>
            <a:r>
              <a:rPr lang="en-IN" sz="1470" dirty="0"/>
              <a:t>Refreshes automatically when new articles or updates come in.</a:t>
            </a:r>
          </a:p>
          <a:p>
            <a:r>
              <a:rPr lang="en-IN" sz="1470" dirty="0"/>
              <a:t>Lets teams share the same space and work together.</a:t>
            </a:r>
          </a:p>
          <a:p>
            <a:pPr lvl="0">
              <a:buSzPts val="1100"/>
            </a:pPr>
            <a:endParaRPr lang="en-IN" sz="1470" dirty="0"/>
          </a:p>
          <a:p>
            <a:pPr marL="0" marR="0" lvl="0" indent="0" algn="just" rtl="0">
              <a:lnSpc>
                <a:spcPct val="140000"/>
              </a:lnSpc>
              <a:spcBef>
                <a:spcPts val="0"/>
              </a:spcBef>
              <a:spcAft>
                <a:spcPts val="0"/>
              </a:spcAft>
              <a:buNone/>
            </a:pPr>
            <a:endParaRPr sz="14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p:nvPr/>
        </p:nvSpPr>
        <p:spPr>
          <a:xfrm>
            <a:off x="1979700" y="3944776"/>
            <a:ext cx="7348200" cy="3078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a:ea typeface="IBM Plex Sans"/>
              <a:cs typeface="IBM Plex Sans"/>
              <a:sym typeface="IBM Plex Sans"/>
            </a:endParaRPr>
          </a:p>
        </p:txBody>
      </p:sp>
      <p:pic>
        <p:nvPicPr>
          <p:cNvPr id="81" name="Google Shape;81;p4"/>
          <p:cNvPicPr preferRelativeResize="0"/>
          <p:nvPr/>
        </p:nvPicPr>
        <p:blipFill rotWithShape="1">
          <a:blip r:embed="rId3">
            <a:alphaModFix/>
          </a:blip>
          <a:srcRect/>
          <a:stretch/>
        </p:blipFill>
        <p:spPr>
          <a:xfrm>
            <a:off x="237975" y="131550"/>
            <a:ext cx="1026150" cy="1026150"/>
          </a:xfrm>
          <a:prstGeom prst="rect">
            <a:avLst/>
          </a:prstGeom>
          <a:noFill/>
          <a:ln>
            <a:noFill/>
          </a:ln>
        </p:spPr>
      </p:pic>
      <p:sp>
        <p:nvSpPr>
          <p:cNvPr id="82" name="Google Shape;82;p4"/>
          <p:cNvSpPr txBox="1"/>
          <p:nvPr/>
        </p:nvSpPr>
        <p:spPr>
          <a:xfrm>
            <a:off x="566425" y="2771425"/>
            <a:ext cx="6250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83" name="Google Shape;83;p4"/>
          <p:cNvSpPr txBox="1"/>
          <p:nvPr/>
        </p:nvSpPr>
        <p:spPr>
          <a:xfrm>
            <a:off x="306000" y="1978975"/>
            <a:ext cx="6250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84" name="Google Shape;84;p4"/>
          <p:cNvSpPr txBox="1"/>
          <p:nvPr/>
        </p:nvSpPr>
        <p:spPr>
          <a:xfrm>
            <a:off x="2051851" y="320300"/>
            <a:ext cx="50403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500" b="1"/>
              <a:t>Methodology &amp; Implementation</a:t>
            </a:r>
            <a:endParaRPr sz="700"/>
          </a:p>
        </p:txBody>
      </p:sp>
      <p:grpSp>
        <p:nvGrpSpPr>
          <p:cNvPr id="85" name="Google Shape;85;p4"/>
          <p:cNvGrpSpPr/>
          <p:nvPr/>
        </p:nvGrpSpPr>
        <p:grpSpPr>
          <a:xfrm>
            <a:off x="615850" y="1188648"/>
            <a:ext cx="7994685" cy="3676019"/>
            <a:chOff x="0" y="-38100"/>
            <a:chExt cx="2083903" cy="1503300"/>
          </a:xfrm>
        </p:grpSpPr>
        <p:sp>
          <p:nvSpPr>
            <p:cNvPr id="86" name="Google Shape;86;p4"/>
            <p:cNvSpPr/>
            <p:nvPr/>
          </p:nvSpPr>
          <p:spPr>
            <a:xfrm>
              <a:off x="0" y="0"/>
              <a:ext cx="2083903" cy="1465108"/>
            </a:xfrm>
            <a:custGeom>
              <a:avLst/>
              <a:gdLst/>
              <a:ahLst/>
              <a:cxnLst/>
              <a:rect l="l" t="t" r="r" b="b"/>
              <a:pathLst>
                <a:path w="2083903" h="1465108" extrusionOk="0">
                  <a:moveTo>
                    <a:pt x="0" y="0"/>
                  </a:moveTo>
                  <a:lnTo>
                    <a:pt x="2083903" y="0"/>
                  </a:lnTo>
                  <a:lnTo>
                    <a:pt x="2083903" y="1465108"/>
                  </a:lnTo>
                  <a:lnTo>
                    <a:pt x="0" y="1465108"/>
                  </a:lnTo>
                  <a:close/>
                </a:path>
              </a:pathLst>
            </a:custGeom>
            <a:solidFill>
              <a:srgbClr val="FFFFFF"/>
            </a:solidFill>
            <a:ln w="38100" cap="sq" cmpd="sng">
              <a:solidFill>
                <a:srgbClr val="000000"/>
              </a:solidFill>
              <a:prstDash val="solid"/>
              <a:miter lim="8000"/>
              <a:headEnd type="none" w="sm" len="sm"/>
              <a:tailEnd type="none" w="sm" len="sm"/>
            </a:ln>
          </p:spPr>
          <p:txBody>
            <a:bodyPr/>
            <a:lstStyle/>
            <a:p>
              <a:endParaRPr lang="en-US"/>
            </a:p>
          </p:txBody>
        </p:sp>
        <p:sp>
          <p:nvSpPr>
            <p:cNvPr id="87" name="Google Shape;87;p4"/>
            <p:cNvSpPr txBox="1"/>
            <p:nvPr/>
          </p:nvSpPr>
          <p:spPr>
            <a:xfrm>
              <a:off x="0" y="-38100"/>
              <a:ext cx="2083800" cy="1503300"/>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sp>
        <p:nvSpPr>
          <p:cNvPr id="88" name="Google Shape;88;p4"/>
          <p:cNvSpPr txBox="1"/>
          <p:nvPr/>
        </p:nvSpPr>
        <p:spPr>
          <a:xfrm>
            <a:off x="752424" y="1348221"/>
            <a:ext cx="8898651" cy="3665619"/>
          </a:xfrm>
          <a:prstGeom prst="rect">
            <a:avLst/>
          </a:prstGeom>
          <a:noFill/>
          <a:ln>
            <a:noFill/>
          </a:ln>
        </p:spPr>
        <p:txBody>
          <a:bodyPr spcFirstLastPara="1" wrap="square" lIns="0" tIns="0" rIns="0" bIns="0" anchor="t" anchorCtr="0">
            <a:spAutoFit/>
          </a:bodyPr>
          <a:lstStyle/>
          <a:p>
            <a:r>
              <a:rPr lang="en-IN" sz="900" b="1" dirty="0"/>
              <a:t>Approach &amp; Implementation</a:t>
            </a:r>
          </a:p>
          <a:p>
            <a:r>
              <a:rPr lang="en-IN" sz="900" b="1" dirty="0"/>
              <a:t>Step 1: User Interaction</a:t>
            </a:r>
            <a:endParaRPr lang="en-IN" sz="900" dirty="0"/>
          </a:p>
          <a:p>
            <a:r>
              <a:rPr lang="en-IN" sz="900" dirty="0"/>
              <a:t>A clean web interface where users ask questions.</a:t>
            </a:r>
          </a:p>
          <a:p>
            <a:r>
              <a:rPr lang="en-IN" sz="900" dirty="0"/>
              <a:t>Option to upload PDFs, research papers, or notes.</a:t>
            </a:r>
          </a:p>
          <a:p>
            <a:r>
              <a:rPr lang="en-IN" sz="900" b="1" dirty="0"/>
              <a:t>Step 2: Data Gathering</a:t>
            </a:r>
            <a:endParaRPr lang="en-IN" sz="900" dirty="0"/>
          </a:p>
          <a:p>
            <a:r>
              <a:rPr lang="en-IN" sz="900" dirty="0"/>
              <a:t>Backend fetches data from two sources:</a:t>
            </a:r>
          </a:p>
          <a:p>
            <a:pPr lvl="1"/>
            <a:r>
              <a:rPr lang="en-IN" sz="900" b="1" dirty="0"/>
              <a:t>Uploaded documents</a:t>
            </a:r>
            <a:r>
              <a:rPr lang="en-IN" sz="900" dirty="0"/>
              <a:t> (PDFs, slides, notes).</a:t>
            </a:r>
          </a:p>
          <a:p>
            <a:pPr lvl="1"/>
            <a:r>
              <a:rPr lang="en-IN" sz="900" b="1" dirty="0"/>
              <a:t>Live web/blog feeds</a:t>
            </a:r>
            <a:r>
              <a:rPr lang="en-IN" sz="900" dirty="0"/>
              <a:t> for fresh information.</a:t>
            </a:r>
          </a:p>
          <a:p>
            <a:r>
              <a:rPr lang="en-IN" sz="900" b="1" dirty="0"/>
              <a:t>Step 3: Information Processing</a:t>
            </a:r>
            <a:endParaRPr lang="en-IN" sz="900" dirty="0"/>
          </a:p>
          <a:p>
            <a:r>
              <a:rPr lang="en-IN" sz="900" dirty="0"/>
              <a:t>Extracts and cleans text.</a:t>
            </a:r>
          </a:p>
          <a:p>
            <a:r>
              <a:rPr lang="en-IN" sz="900" dirty="0"/>
              <a:t>Uses keyword + semantic search to find relevant sections.</a:t>
            </a:r>
          </a:p>
          <a:p>
            <a:r>
              <a:rPr lang="en-IN" sz="900" dirty="0"/>
              <a:t>Cross-checks multiple sources to detect </a:t>
            </a:r>
            <a:r>
              <a:rPr lang="en-IN" sz="900" b="1" dirty="0"/>
              <a:t>agreements vs. conflicts</a:t>
            </a:r>
            <a:r>
              <a:rPr lang="en-IN" sz="900" dirty="0"/>
              <a:t>.</a:t>
            </a:r>
          </a:p>
          <a:p>
            <a:r>
              <a:rPr lang="en-IN" sz="900" b="1" dirty="0"/>
              <a:t>Step 4: Summarization &amp; Trust Layer</a:t>
            </a:r>
            <a:endParaRPr lang="en-IN" sz="900" dirty="0"/>
          </a:p>
          <a:p>
            <a:r>
              <a:rPr lang="en-IN" sz="900" dirty="0"/>
              <a:t>Generates short, structured answers.</a:t>
            </a:r>
          </a:p>
          <a:p>
            <a:r>
              <a:rPr lang="en-IN" sz="900" dirty="0"/>
              <a:t>Every point is backed by a </a:t>
            </a:r>
            <a:r>
              <a:rPr lang="en-IN" sz="900" b="1" dirty="0"/>
              <a:t>citation</a:t>
            </a:r>
            <a:r>
              <a:rPr lang="en-IN" sz="900" dirty="0"/>
              <a:t>.</a:t>
            </a:r>
          </a:p>
          <a:p>
            <a:r>
              <a:rPr lang="en-IN" sz="900" dirty="0"/>
              <a:t>Sources are </a:t>
            </a:r>
            <a:r>
              <a:rPr lang="en-IN" sz="900" b="1" dirty="0"/>
              <a:t>ranked</a:t>
            </a:r>
            <a:r>
              <a:rPr lang="en-IN" sz="900" dirty="0"/>
              <a:t> by recency and credibility (e.g., academic &gt; random blog).</a:t>
            </a:r>
          </a:p>
          <a:p>
            <a:r>
              <a:rPr lang="en-IN" sz="900" b="1" dirty="0"/>
              <a:t>Step 5: Research Journal Creation</a:t>
            </a:r>
            <a:endParaRPr lang="en-IN" sz="900" dirty="0"/>
          </a:p>
          <a:p>
            <a:r>
              <a:rPr lang="en-IN" sz="900" dirty="0"/>
              <a:t>Instead of giving a one-time reply, all Q&amp;A are stored in a </a:t>
            </a:r>
            <a:r>
              <a:rPr lang="en-IN" sz="900" b="1" dirty="0"/>
              <a:t>living research notebook</a:t>
            </a:r>
            <a:r>
              <a:rPr lang="en-IN" sz="900" dirty="0"/>
              <a:t>.</a:t>
            </a:r>
          </a:p>
          <a:p>
            <a:r>
              <a:rPr lang="en-IN" sz="900" dirty="0"/>
              <a:t>Notebook automatically updates when new data comes in (version control for knowledge).</a:t>
            </a:r>
          </a:p>
          <a:p>
            <a:r>
              <a:rPr lang="en-IN" sz="900" b="1" dirty="0"/>
              <a:t>Step 6: Dashboard &amp; Collaboration</a:t>
            </a:r>
            <a:endParaRPr lang="en-IN" sz="900" dirty="0"/>
          </a:p>
          <a:p>
            <a:r>
              <a:rPr lang="en-IN" sz="900" dirty="0"/>
              <a:t>A team dashboard shows:</a:t>
            </a:r>
          </a:p>
          <a:p>
            <a:pPr lvl="1"/>
            <a:r>
              <a:rPr lang="en-IN" sz="900" dirty="0"/>
              <a:t>Key insights.</a:t>
            </a:r>
          </a:p>
          <a:p>
            <a:pPr lvl="1"/>
            <a:r>
              <a:rPr lang="en-IN" sz="900" dirty="0"/>
              <a:t>Sources used.</a:t>
            </a:r>
          </a:p>
          <a:p>
            <a:pPr lvl="1"/>
            <a:r>
              <a:rPr lang="en-IN" sz="900" dirty="0"/>
              <a:t>Usage counters/credits.</a:t>
            </a:r>
          </a:p>
          <a:p>
            <a:r>
              <a:rPr lang="en-IN" sz="900" dirty="0"/>
              <a:t>Multiple users can </a:t>
            </a:r>
            <a:r>
              <a:rPr lang="en-IN" sz="900" b="1" dirty="0"/>
              <a:t>share the same project space</a:t>
            </a:r>
            <a:r>
              <a:rPr lang="en-IN" sz="900" dirty="0"/>
              <a:t> and track contributions.</a:t>
            </a:r>
          </a:p>
          <a:p>
            <a:pPr lvl="0">
              <a:buSzPts val="1100"/>
            </a:pPr>
            <a:endParaRPr lang="en-IN" sz="900" dirty="0"/>
          </a:p>
          <a:p>
            <a:pPr marL="0" marR="0" lvl="0" indent="0" algn="just" rtl="0">
              <a:lnSpc>
                <a:spcPct val="140000"/>
              </a:lnSpc>
              <a:spcBef>
                <a:spcPts val="0"/>
              </a:spcBef>
              <a:spcAft>
                <a:spcPts val="0"/>
              </a:spcAft>
              <a:buNone/>
            </a:pPr>
            <a:endParaRPr sz="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37272eebcc5_0_5"/>
          <p:cNvSpPr txBox="1"/>
          <p:nvPr/>
        </p:nvSpPr>
        <p:spPr>
          <a:xfrm>
            <a:off x="1979700" y="3944776"/>
            <a:ext cx="7348200" cy="3078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a:ea typeface="IBM Plex Sans"/>
              <a:cs typeface="IBM Plex Sans"/>
              <a:sym typeface="IBM Plex Sans"/>
            </a:endParaRPr>
          </a:p>
        </p:txBody>
      </p:sp>
      <p:pic>
        <p:nvPicPr>
          <p:cNvPr id="94" name="Google Shape;94;g37272eebcc5_0_5"/>
          <p:cNvPicPr preferRelativeResize="0"/>
          <p:nvPr/>
        </p:nvPicPr>
        <p:blipFill rotWithShape="1">
          <a:blip r:embed="rId3">
            <a:alphaModFix/>
          </a:blip>
          <a:srcRect/>
          <a:stretch/>
        </p:blipFill>
        <p:spPr>
          <a:xfrm>
            <a:off x="237975" y="131550"/>
            <a:ext cx="1026150" cy="1026150"/>
          </a:xfrm>
          <a:prstGeom prst="rect">
            <a:avLst/>
          </a:prstGeom>
          <a:noFill/>
          <a:ln>
            <a:noFill/>
          </a:ln>
        </p:spPr>
      </p:pic>
      <p:sp>
        <p:nvSpPr>
          <p:cNvPr id="95" name="Google Shape;95;g37272eebcc5_0_5"/>
          <p:cNvSpPr txBox="1"/>
          <p:nvPr/>
        </p:nvSpPr>
        <p:spPr>
          <a:xfrm>
            <a:off x="566425" y="2771425"/>
            <a:ext cx="6250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96" name="Google Shape;96;g37272eebcc5_0_5"/>
          <p:cNvSpPr txBox="1"/>
          <p:nvPr/>
        </p:nvSpPr>
        <p:spPr>
          <a:xfrm>
            <a:off x="306000" y="1978975"/>
            <a:ext cx="6250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97" name="Google Shape;97;g37272eebcc5_0_5"/>
          <p:cNvSpPr txBox="1"/>
          <p:nvPr/>
        </p:nvSpPr>
        <p:spPr>
          <a:xfrm>
            <a:off x="2051851" y="401025"/>
            <a:ext cx="50403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500" b="1"/>
              <a:t>Technology Used</a:t>
            </a:r>
            <a:endParaRPr sz="700"/>
          </a:p>
        </p:txBody>
      </p:sp>
      <p:grpSp>
        <p:nvGrpSpPr>
          <p:cNvPr id="98" name="Google Shape;98;g37272eebcc5_0_5"/>
          <p:cNvGrpSpPr/>
          <p:nvPr/>
        </p:nvGrpSpPr>
        <p:grpSpPr>
          <a:xfrm>
            <a:off x="615850" y="1188648"/>
            <a:ext cx="7994685" cy="3676019"/>
            <a:chOff x="0" y="-38100"/>
            <a:chExt cx="2083903" cy="1503300"/>
          </a:xfrm>
        </p:grpSpPr>
        <p:sp>
          <p:nvSpPr>
            <p:cNvPr id="99" name="Google Shape;99;g37272eebcc5_0_5"/>
            <p:cNvSpPr/>
            <p:nvPr/>
          </p:nvSpPr>
          <p:spPr>
            <a:xfrm>
              <a:off x="0" y="0"/>
              <a:ext cx="2083903" cy="1465108"/>
            </a:xfrm>
            <a:custGeom>
              <a:avLst/>
              <a:gdLst/>
              <a:ahLst/>
              <a:cxnLst/>
              <a:rect l="l" t="t" r="r" b="b"/>
              <a:pathLst>
                <a:path w="2083903" h="1465108" extrusionOk="0">
                  <a:moveTo>
                    <a:pt x="0" y="0"/>
                  </a:moveTo>
                  <a:lnTo>
                    <a:pt x="2083903" y="0"/>
                  </a:lnTo>
                  <a:lnTo>
                    <a:pt x="2083903" y="1465108"/>
                  </a:lnTo>
                  <a:lnTo>
                    <a:pt x="0" y="1465108"/>
                  </a:lnTo>
                  <a:close/>
                </a:path>
              </a:pathLst>
            </a:custGeom>
            <a:solidFill>
              <a:srgbClr val="FFFFFF"/>
            </a:solidFill>
            <a:ln w="38100" cap="sq" cmpd="sng">
              <a:solidFill>
                <a:srgbClr val="000000"/>
              </a:solidFill>
              <a:prstDash val="solid"/>
              <a:miter lim="8000"/>
              <a:headEnd type="none" w="sm" len="sm"/>
              <a:tailEnd type="none" w="sm" len="sm"/>
            </a:ln>
          </p:spPr>
          <p:txBody>
            <a:bodyPr/>
            <a:lstStyle/>
            <a:p>
              <a:endParaRPr lang="en-US"/>
            </a:p>
          </p:txBody>
        </p:sp>
        <p:sp>
          <p:nvSpPr>
            <p:cNvPr id="100" name="Google Shape;100;g37272eebcc5_0_5"/>
            <p:cNvSpPr txBox="1"/>
            <p:nvPr/>
          </p:nvSpPr>
          <p:spPr>
            <a:xfrm>
              <a:off x="0" y="-38100"/>
              <a:ext cx="2083800" cy="1503300"/>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F4736267-E752-275A-DBA0-2E5EE0348D39}"/>
              </a:ext>
            </a:extLst>
          </p:cNvPr>
          <p:cNvPicPr>
            <a:picLocks noChangeAspect="1"/>
          </p:cNvPicPr>
          <p:nvPr/>
        </p:nvPicPr>
        <p:blipFill>
          <a:blip r:embed="rId4"/>
          <a:srcRect t="17321" r="653"/>
          <a:stretch>
            <a:fillRect/>
          </a:stretch>
        </p:blipFill>
        <p:spPr>
          <a:xfrm>
            <a:off x="1431495" y="1366607"/>
            <a:ext cx="6151675" cy="34130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5"/>
          <p:cNvPicPr preferRelativeResize="0"/>
          <p:nvPr/>
        </p:nvPicPr>
        <p:blipFill rotWithShape="1">
          <a:blip r:embed="rId3">
            <a:alphaModFix/>
          </a:blip>
          <a:srcRect/>
          <a:stretch/>
        </p:blipFill>
        <p:spPr>
          <a:xfrm>
            <a:off x="419925" y="131025"/>
            <a:ext cx="1026150" cy="1026150"/>
          </a:xfrm>
          <a:prstGeom prst="rect">
            <a:avLst/>
          </a:prstGeom>
          <a:noFill/>
          <a:ln>
            <a:noFill/>
          </a:ln>
        </p:spPr>
      </p:pic>
      <p:grpSp>
        <p:nvGrpSpPr>
          <p:cNvPr id="106" name="Google Shape;106;p5"/>
          <p:cNvGrpSpPr/>
          <p:nvPr/>
        </p:nvGrpSpPr>
        <p:grpSpPr>
          <a:xfrm>
            <a:off x="4891900" y="1188675"/>
            <a:ext cx="3960442" cy="3530299"/>
            <a:chOff x="0" y="-38100"/>
            <a:chExt cx="2086200" cy="850900"/>
          </a:xfrm>
        </p:grpSpPr>
        <p:sp>
          <p:nvSpPr>
            <p:cNvPr id="107" name="Google Shape;107;p5"/>
            <p:cNvSpPr/>
            <p:nvPr/>
          </p:nvSpPr>
          <p:spPr>
            <a:xfrm>
              <a:off x="0" y="0"/>
              <a:ext cx="2086152" cy="812800"/>
            </a:xfrm>
            <a:custGeom>
              <a:avLst/>
              <a:gdLst/>
              <a:ahLst/>
              <a:cxnLst/>
              <a:rect l="l" t="t" r="r" b="b"/>
              <a:pathLst>
                <a:path w="2086152" h="812800" extrusionOk="0">
                  <a:moveTo>
                    <a:pt x="0" y="0"/>
                  </a:moveTo>
                  <a:lnTo>
                    <a:pt x="2086152" y="0"/>
                  </a:lnTo>
                  <a:lnTo>
                    <a:pt x="2086152" y="812800"/>
                  </a:lnTo>
                  <a:lnTo>
                    <a:pt x="0" y="812800"/>
                  </a:lnTo>
                  <a:close/>
                </a:path>
              </a:pathLst>
            </a:custGeom>
            <a:solidFill>
              <a:srgbClr val="FFFFFF"/>
            </a:solidFill>
            <a:ln w="38100" cap="sq" cmpd="sng">
              <a:solidFill>
                <a:srgbClr val="000000"/>
              </a:solidFill>
              <a:prstDash val="solid"/>
              <a:miter lim="8000"/>
              <a:headEnd type="none" w="sm" len="sm"/>
              <a:tailEnd type="none" w="sm" len="sm"/>
            </a:ln>
          </p:spPr>
          <p:txBody>
            <a:bodyPr/>
            <a:lstStyle/>
            <a:p>
              <a:endParaRPr lang="en-US"/>
            </a:p>
          </p:txBody>
        </p:sp>
        <p:sp>
          <p:nvSpPr>
            <p:cNvPr id="108" name="Google Shape;108;p5"/>
            <p:cNvSpPr txBox="1"/>
            <p:nvPr/>
          </p:nvSpPr>
          <p:spPr>
            <a:xfrm>
              <a:off x="0" y="-38100"/>
              <a:ext cx="2086200" cy="850800"/>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sp>
        <p:nvSpPr>
          <p:cNvPr id="109" name="Google Shape;109;p5"/>
          <p:cNvSpPr txBox="1"/>
          <p:nvPr/>
        </p:nvSpPr>
        <p:spPr>
          <a:xfrm>
            <a:off x="1966798" y="201350"/>
            <a:ext cx="52104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2500" b="1"/>
              <a:t>Flowchart &amp; Supporting Images</a:t>
            </a:r>
            <a:endParaRPr sz="700"/>
          </a:p>
        </p:txBody>
      </p:sp>
      <p:sp>
        <p:nvSpPr>
          <p:cNvPr id="110" name="Google Shape;110;p5"/>
          <p:cNvSpPr txBox="1"/>
          <p:nvPr/>
        </p:nvSpPr>
        <p:spPr>
          <a:xfrm>
            <a:off x="4894073" y="2960475"/>
            <a:ext cx="39561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500" b="1" i="0" u="none" strike="noStrike" cap="none">
                <a:solidFill>
                  <a:srgbClr val="000000"/>
                </a:solidFill>
                <a:latin typeface="Arial"/>
                <a:ea typeface="Arial"/>
                <a:cs typeface="Arial"/>
                <a:sym typeface="Arial"/>
              </a:rPr>
              <a:t>Flowchart</a:t>
            </a:r>
            <a:endParaRPr sz="700"/>
          </a:p>
        </p:txBody>
      </p:sp>
      <p:grpSp>
        <p:nvGrpSpPr>
          <p:cNvPr id="111" name="Google Shape;111;p5"/>
          <p:cNvGrpSpPr/>
          <p:nvPr/>
        </p:nvGrpSpPr>
        <p:grpSpPr>
          <a:xfrm>
            <a:off x="526825" y="1188650"/>
            <a:ext cx="3960442" cy="3530299"/>
            <a:chOff x="0" y="-38100"/>
            <a:chExt cx="2086200" cy="850900"/>
          </a:xfrm>
        </p:grpSpPr>
        <p:sp>
          <p:nvSpPr>
            <p:cNvPr id="112" name="Google Shape;112;p5"/>
            <p:cNvSpPr/>
            <p:nvPr/>
          </p:nvSpPr>
          <p:spPr>
            <a:xfrm>
              <a:off x="0" y="0"/>
              <a:ext cx="2086152" cy="812800"/>
            </a:xfrm>
            <a:custGeom>
              <a:avLst/>
              <a:gdLst/>
              <a:ahLst/>
              <a:cxnLst/>
              <a:rect l="l" t="t" r="r" b="b"/>
              <a:pathLst>
                <a:path w="2086152" h="812800" extrusionOk="0">
                  <a:moveTo>
                    <a:pt x="0" y="0"/>
                  </a:moveTo>
                  <a:lnTo>
                    <a:pt x="2086152" y="0"/>
                  </a:lnTo>
                  <a:lnTo>
                    <a:pt x="2086152" y="812800"/>
                  </a:lnTo>
                  <a:lnTo>
                    <a:pt x="0" y="812800"/>
                  </a:lnTo>
                  <a:close/>
                </a:path>
              </a:pathLst>
            </a:custGeom>
            <a:solidFill>
              <a:srgbClr val="FFFFFF"/>
            </a:solidFill>
            <a:ln w="38100" cap="sq" cmpd="sng">
              <a:solidFill>
                <a:srgbClr val="000000"/>
              </a:solidFill>
              <a:prstDash val="solid"/>
              <a:miter lim="8000"/>
              <a:headEnd type="none" w="sm" len="sm"/>
              <a:tailEnd type="none" w="sm" len="sm"/>
            </a:ln>
          </p:spPr>
          <p:txBody>
            <a:bodyPr/>
            <a:lstStyle/>
            <a:p>
              <a:endParaRPr lang="en-US"/>
            </a:p>
          </p:txBody>
        </p:sp>
        <p:sp>
          <p:nvSpPr>
            <p:cNvPr id="113" name="Google Shape;113;p5"/>
            <p:cNvSpPr txBox="1"/>
            <p:nvPr/>
          </p:nvSpPr>
          <p:spPr>
            <a:xfrm>
              <a:off x="0" y="-38100"/>
              <a:ext cx="2086200" cy="850800"/>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sp>
        <p:nvSpPr>
          <p:cNvPr id="114" name="Google Shape;114;p5"/>
          <p:cNvSpPr txBox="1"/>
          <p:nvPr/>
        </p:nvSpPr>
        <p:spPr>
          <a:xfrm>
            <a:off x="1156012" y="2932663"/>
            <a:ext cx="27021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GB" sz="1500" b="1" dirty="0"/>
              <a:t>Supporting Images</a:t>
            </a:r>
            <a:endParaRPr sz="700" dirty="0"/>
          </a:p>
        </p:txBody>
      </p:sp>
      <p:pic>
        <p:nvPicPr>
          <p:cNvPr id="1026" name="Picture 2" descr="Improved Smart Research Assistant Architecture - Clear layered design with better visual hierarchy and component organization">
            <a:extLst>
              <a:ext uri="{FF2B5EF4-FFF2-40B4-BE49-F238E27FC236}">
                <a16:creationId xmlns:a16="http://schemas.microsoft.com/office/drawing/2014/main" id="{5D389F46-6A09-BA0E-A23B-3FCAE9C247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339" r="17534"/>
          <a:stretch>
            <a:fillRect/>
          </a:stretch>
        </p:blipFill>
        <p:spPr bwMode="auto">
          <a:xfrm>
            <a:off x="5545873" y="1552598"/>
            <a:ext cx="2936488" cy="29604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50FCDC3-87EE-2D7E-CF77-5A4A8BCC93BE}"/>
              </a:ext>
            </a:extLst>
          </p:cNvPr>
          <p:cNvPicPr>
            <a:picLocks noChangeAspect="1"/>
          </p:cNvPicPr>
          <p:nvPr/>
        </p:nvPicPr>
        <p:blipFill>
          <a:blip r:embed="rId5"/>
          <a:srcRect l="3194" r="4869"/>
          <a:stretch>
            <a:fillRect/>
          </a:stretch>
        </p:blipFill>
        <p:spPr>
          <a:xfrm>
            <a:off x="609600" y="1427356"/>
            <a:ext cx="3731941" cy="29216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p:nvPr/>
        </p:nvSpPr>
        <p:spPr>
          <a:xfrm>
            <a:off x="1979700" y="3944776"/>
            <a:ext cx="7348200" cy="307800"/>
          </a:xfrm>
          <a:prstGeom prst="rect">
            <a:avLst/>
          </a:prstGeom>
          <a:noFill/>
          <a:ln>
            <a:noFill/>
          </a:ln>
        </p:spPr>
        <p:txBody>
          <a:bodyPr spcFirstLastPara="1" wrap="square" lIns="91425" tIns="45700" rIns="91425" bIns="45700" anchor="t" anchorCtr="0">
            <a:spAutoFit/>
          </a:bodyPr>
          <a:lstStyle/>
          <a:p>
            <a:pPr marL="302260" marR="0" lvl="1"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a:ea typeface="IBM Plex Sans"/>
              <a:cs typeface="IBM Plex Sans"/>
              <a:sym typeface="IBM Plex Sans"/>
            </a:endParaRPr>
          </a:p>
        </p:txBody>
      </p:sp>
      <p:pic>
        <p:nvPicPr>
          <p:cNvPr id="120" name="Google Shape;120;p6"/>
          <p:cNvPicPr preferRelativeResize="0"/>
          <p:nvPr/>
        </p:nvPicPr>
        <p:blipFill rotWithShape="1">
          <a:blip r:embed="rId3">
            <a:alphaModFix/>
          </a:blip>
          <a:srcRect/>
          <a:stretch/>
        </p:blipFill>
        <p:spPr>
          <a:xfrm>
            <a:off x="414075" y="103963"/>
            <a:ext cx="978624" cy="978624"/>
          </a:xfrm>
          <a:prstGeom prst="rect">
            <a:avLst/>
          </a:prstGeom>
          <a:noFill/>
          <a:ln>
            <a:noFill/>
          </a:ln>
        </p:spPr>
      </p:pic>
      <p:sp>
        <p:nvSpPr>
          <p:cNvPr id="121" name="Google Shape;121;p6"/>
          <p:cNvSpPr txBox="1"/>
          <p:nvPr/>
        </p:nvSpPr>
        <p:spPr>
          <a:xfrm>
            <a:off x="1979700" y="400825"/>
            <a:ext cx="50403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500"/>
              <a:buFont typeface="Arial"/>
              <a:buNone/>
            </a:pPr>
            <a:r>
              <a:rPr lang="en-GB" sz="2500" b="1" i="0" u="none" strike="noStrike" cap="none">
                <a:solidFill>
                  <a:srgbClr val="000000"/>
                </a:solidFill>
                <a:latin typeface="Arial"/>
                <a:ea typeface="Arial"/>
                <a:cs typeface="Arial"/>
                <a:sym typeface="Arial"/>
              </a:rPr>
              <a:t>Feasibility and Market Use</a:t>
            </a:r>
            <a:endParaRPr sz="700" b="0" i="0" u="none" strike="noStrike" cap="none">
              <a:solidFill>
                <a:srgbClr val="000000"/>
              </a:solidFill>
              <a:latin typeface="Arial"/>
              <a:ea typeface="Arial"/>
              <a:cs typeface="Arial"/>
              <a:sym typeface="Arial"/>
            </a:endParaRPr>
          </a:p>
        </p:txBody>
      </p:sp>
      <p:sp>
        <p:nvSpPr>
          <p:cNvPr id="122" name="Google Shape;122;p6"/>
          <p:cNvSpPr/>
          <p:nvPr/>
        </p:nvSpPr>
        <p:spPr>
          <a:xfrm>
            <a:off x="3563875" y="4760425"/>
            <a:ext cx="807000" cy="333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6"/>
          <p:cNvSpPr/>
          <p:nvPr/>
        </p:nvSpPr>
        <p:spPr>
          <a:xfrm>
            <a:off x="8309225" y="4835750"/>
            <a:ext cx="656400" cy="204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Google Shape;88;p4">
            <a:extLst>
              <a:ext uri="{FF2B5EF4-FFF2-40B4-BE49-F238E27FC236}">
                <a16:creationId xmlns:a16="http://schemas.microsoft.com/office/drawing/2014/main" id="{42C963A4-1289-EFB5-9DE4-29664044802F}"/>
              </a:ext>
            </a:extLst>
          </p:cNvPr>
          <p:cNvSpPr txBox="1"/>
          <p:nvPr/>
        </p:nvSpPr>
        <p:spPr>
          <a:xfrm>
            <a:off x="414075" y="1203960"/>
            <a:ext cx="8898651" cy="3939540"/>
          </a:xfrm>
          <a:prstGeom prst="rect">
            <a:avLst/>
          </a:prstGeom>
          <a:noFill/>
          <a:ln>
            <a:noFill/>
          </a:ln>
        </p:spPr>
        <p:txBody>
          <a:bodyPr spcFirstLastPara="1" wrap="square" lIns="0" tIns="0" rIns="0" bIns="0" anchor="t" anchorCtr="0">
            <a:spAutoFit/>
          </a:bodyPr>
          <a:lstStyle/>
          <a:p>
            <a:r>
              <a:rPr lang="en-IN" sz="1600" b="1" dirty="0"/>
              <a:t>Feasibility</a:t>
            </a:r>
            <a:endParaRPr lang="en-IN" sz="1600" dirty="0"/>
          </a:p>
          <a:p>
            <a:r>
              <a:rPr lang="en-IN" sz="1600" dirty="0"/>
              <a:t>Can be built using existing tools (React, Python, NLP, cloud services).</a:t>
            </a:r>
          </a:p>
          <a:p>
            <a:r>
              <a:rPr lang="en-IN" sz="1600" dirty="0"/>
              <a:t>Scales easily with cloud deployment, starting small and expanding with users.</a:t>
            </a:r>
          </a:p>
          <a:p>
            <a:r>
              <a:rPr lang="en-IN" sz="1600" dirty="0"/>
              <a:t>Usage tracking + billing model make it sustainable as a SaaS product.</a:t>
            </a:r>
          </a:p>
          <a:p>
            <a:endParaRPr lang="en-IN" sz="1600" dirty="0"/>
          </a:p>
          <a:p>
            <a:r>
              <a:rPr lang="en-IN" sz="1600" b="1" dirty="0"/>
              <a:t>Market Use</a:t>
            </a:r>
            <a:endParaRPr lang="en-IN" sz="1600" dirty="0"/>
          </a:p>
          <a:p>
            <a:r>
              <a:rPr lang="en-IN" sz="1600" b="1" dirty="0"/>
              <a:t>Students &amp; Researchers</a:t>
            </a:r>
            <a:r>
              <a:rPr lang="en-IN" sz="1600" dirty="0"/>
              <a:t> – faster literature reviews and assignments.</a:t>
            </a:r>
          </a:p>
          <a:p>
            <a:r>
              <a:rPr lang="en-IN" sz="1600" b="1" dirty="0"/>
              <a:t>Teachers</a:t>
            </a:r>
            <a:r>
              <a:rPr lang="en-IN" sz="1600" dirty="0"/>
              <a:t> – reliable, updated teaching resources.</a:t>
            </a:r>
          </a:p>
          <a:p>
            <a:r>
              <a:rPr lang="en-IN" sz="1600" b="1" dirty="0"/>
              <a:t>Startups</a:t>
            </a:r>
            <a:r>
              <a:rPr lang="en-IN" sz="1600" dirty="0"/>
              <a:t> – quick validation of ideas and market trends.</a:t>
            </a:r>
          </a:p>
          <a:p>
            <a:r>
              <a:rPr lang="en-IN" sz="1600" b="1" dirty="0"/>
              <a:t>Corporate Teams</a:t>
            </a:r>
            <a:r>
              <a:rPr lang="en-IN" sz="1600" dirty="0"/>
              <a:t> – summarize reports and track industry updates.</a:t>
            </a:r>
          </a:p>
          <a:p>
            <a:endParaRPr lang="en-IN" sz="1600" dirty="0"/>
          </a:p>
          <a:p>
            <a:r>
              <a:rPr lang="en-IN" sz="1600" b="1" dirty="0"/>
              <a:t>Why it Works</a:t>
            </a:r>
            <a:endParaRPr lang="en-IN" sz="1600" dirty="0"/>
          </a:p>
          <a:p>
            <a:r>
              <a:rPr lang="en-IN" sz="1600" dirty="0"/>
              <a:t>Saves time and reduces effort in research.</a:t>
            </a:r>
          </a:p>
          <a:p>
            <a:r>
              <a:rPr lang="en-IN" sz="1600" dirty="0"/>
              <a:t>Adds </a:t>
            </a:r>
            <a:r>
              <a:rPr lang="en-IN" sz="1600" b="1" dirty="0"/>
              <a:t>credibility, collaboration, and continuous updates</a:t>
            </a:r>
            <a:r>
              <a:rPr lang="en-IN" sz="1600" dirty="0"/>
              <a:t>, unlike standard chatbots.</a:t>
            </a:r>
          </a:p>
          <a:p>
            <a:r>
              <a:rPr lang="en-IN" sz="1600" dirty="0"/>
              <a:t>Fits into the growing demand for EdTech and productivity tools.</a:t>
            </a:r>
          </a:p>
          <a:p>
            <a:pPr lvl="0">
              <a:buSzPts val="1100"/>
            </a:pPr>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36ba1536f02_0_19"/>
          <p:cNvPicPr preferRelativeResize="0"/>
          <p:nvPr/>
        </p:nvPicPr>
        <p:blipFill rotWithShape="1">
          <a:blip r:embed="rId3">
            <a:alphaModFix/>
          </a:blip>
          <a:srcRect/>
          <a:stretch/>
        </p:blipFill>
        <p:spPr>
          <a:xfrm>
            <a:off x="414075" y="103963"/>
            <a:ext cx="978624" cy="978624"/>
          </a:xfrm>
          <a:prstGeom prst="rect">
            <a:avLst/>
          </a:prstGeom>
          <a:noFill/>
          <a:ln>
            <a:noFill/>
          </a:ln>
        </p:spPr>
      </p:pic>
      <p:sp>
        <p:nvSpPr>
          <p:cNvPr id="129" name="Google Shape;129;g36ba1536f02_0_19"/>
          <p:cNvSpPr txBox="1"/>
          <p:nvPr/>
        </p:nvSpPr>
        <p:spPr>
          <a:xfrm>
            <a:off x="1979700" y="400825"/>
            <a:ext cx="5040300" cy="384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500"/>
              <a:buFont typeface="Arial"/>
              <a:buNone/>
            </a:pPr>
            <a:r>
              <a:rPr lang="en-GB" sz="2500" b="1"/>
              <a:t>Conclusion</a:t>
            </a:r>
            <a:endParaRPr sz="700" b="0" i="0" u="none" strike="noStrike" cap="none">
              <a:solidFill>
                <a:srgbClr val="000000"/>
              </a:solidFill>
              <a:latin typeface="Arial"/>
              <a:ea typeface="Arial"/>
              <a:cs typeface="Arial"/>
              <a:sym typeface="Arial"/>
            </a:endParaRPr>
          </a:p>
        </p:txBody>
      </p:sp>
      <p:sp>
        <p:nvSpPr>
          <p:cNvPr id="3" name="Google Shape;88;p4">
            <a:extLst>
              <a:ext uri="{FF2B5EF4-FFF2-40B4-BE49-F238E27FC236}">
                <a16:creationId xmlns:a16="http://schemas.microsoft.com/office/drawing/2014/main" id="{330D5B06-7CC0-624C-1A42-D2B755665248}"/>
              </a:ext>
            </a:extLst>
          </p:cNvPr>
          <p:cNvSpPr txBox="1"/>
          <p:nvPr/>
        </p:nvSpPr>
        <p:spPr>
          <a:xfrm>
            <a:off x="414076" y="1203960"/>
            <a:ext cx="8530419" cy="2215991"/>
          </a:xfrm>
          <a:prstGeom prst="rect">
            <a:avLst/>
          </a:prstGeom>
          <a:noFill/>
          <a:ln>
            <a:noFill/>
          </a:ln>
        </p:spPr>
        <p:txBody>
          <a:bodyPr spcFirstLastPara="1" wrap="square" lIns="0" tIns="0" rIns="0" bIns="0" anchor="t" anchorCtr="0">
            <a:spAutoFit/>
          </a:bodyPr>
          <a:lstStyle/>
          <a:p>
            <a:pPr algn="just"/>
            <a:r>
              <a:rPr lang="en-IN" sz="1600" dirty="0"/>
              <a:t>Research today is messy and time-consuming. Our project makes it simpler by giving users one place to ask questions, get clear answers with sources, and keep track of everything in a research notebook. Unlike normal tools, it highlights reliable information, stays updated, and even lets teams work together on the same space.</a:t>
            </a:r>
          </a:p>
          <a:p>
            <a:pPr algn="just"/>
            <a:r>
              <a:rPr lang="en-IN" sz="1600" dirty="0"/>
              <a:t>This way, students, teachers, and startups can save time, trust the results, and focus more on using knowledge instead of searching for it.</a:t>
            </a:r>
          </a:p>
          <a:p>
            <a:pPr algn="just"/>
            <a:endParaRPr lang="en-IN" sz="1600" dirty="0"/>
          </a:p>
          <a:p>
            <a:pPr algn="just"/>
            <a:r>
              <a:rPr lang="en-IN" sz="1600" dirty="0"/>
              <a:t>👉 A practical, collaborative, and future-ready approach to research.</a:t>
            </a:r>
          </a:p>
          <a:p>
            <a:pPr lvl="0" algn="just"/>
            <a:endParaRPr lang="en-IN" sz="16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847</Words>
  <Application>Microsoft Office PowerPoint</Application>
  <PresentationFormat>On-screen Show (16:9)</PresentationFormat>
  <Paragraphs>93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Merriweather</vt:lpstr>
      <vt:lpstr>Calibri</vt:lpstr>
      <vt:lpstr>Arial</vt:lpstr>
      <vt:lpstr>IBM Plex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AVINASH YARUKALA 2420030568</cp:lastModifiedBy>
  <cp:revision>4</cp:revision>
  <dcterms:modified xsi:type="dcterms:W3CDTF">2025-09-19T09:31:03Z</dcterms:modified>
</cp:coreProperties>
</file>